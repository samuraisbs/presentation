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Гражданское общество — это совокупность организаций и отношений между гражданами и государством. Оно включает в себя некоммерческие организации (НКО), профсоюзы, ассоциации и социальные группы. Гражданское общество играет важную роль в формировании и развитии правового государства, так как способствует участию граждан в управлении и контролю за действиями власти.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НКО, профсоюзы, ассоциации и социальные группы являются ключевыми элементами гражданского общества. Они способствуют защите прав и свобод граждан, развитию демократии и укреплению правового государства. Эти организации могут оказывать влияние на принятие решений и контроль за их исполнением, что делает их важными участниками в системе управления.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Правовое государство — это государство, в котором власть ограничена законом, а права и свободы граждан защищены. В правовом государстве действуют принципы верховенства закона, разделения властей и защиты прав человека. Это обеспечивает баланс между властью и свободой граждан, создавая условия для справедливого и эффективного управления.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Верховенство закона, разделение властей, защита прав и свобод граждан — основные принципы правового государства. Эти принципы гарантируют, что все граждане равны перед законом и имеют равные возможности для защиты своих прав. Они также способствуют укреплению доверия к власти и повышению уровня правовой культуры в обществе, что является основой для стабильного развития.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Гражданское общество и правовое государство взаимодействуют через механизмы участия граждан в управлении, контроля за властью и защиты прав. Граждане могут участвовать в выборах, обращаться в суды, создавать НКО и таким образом влиять на принятие решений и контроль за их исполнением. Это способствует укреплению демократии и правового государства, обеспечивая активное участие граждан в жизни общества.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Проблемы в развитии гражданского общества и правового государства включают недостаток участия граждан, слабые механизмы контроля за властью и нарушения прав. Эти проблемы могут привести к снижению доверия к власти, усилению социальных напряжений и даже к политическим кризисам. Например, недостаточная активность граждан может привести к ослаблению контроля за действиями государственных органов, что, в свою очередь, может вызвать рост коррупции и нарушений прав человека.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Перспективы развития гражданского общества и правового государства включают усиление участия граждан, развитие механизмов контроля и защиту прав. Это может быть достигнуто через образовательные программы, повышение правовой грамотности населения, укрепление институтов гражданского общества и совершенствование законодательства. Важно также создать условия для активного участия граждан в общественной жизни и обеспечить им доступ к информации о деятельности государственных органов.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Примеры успешного взаимодействия гражданского общества и правового государства включают успешные механизмы участия граждан в управлении и защиты прав. Например, в некоторых странах НКО успешно борются с коррупцией, защищают права человека и способствуют развитию демократии. Также существуют примеры, когда граждане через свои организации добивались принятия законов, направленных на защиту окружающей среды или улучшение условий труда.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Уроки успешного взаимодействия гражданского общества и правового государства включают важность участия граждан, развития механизмов контроля и защиты прав. Эти уроки показывают, что активное участие граждан и эффективное взаимодействие с государством могут способствовать укреплению демократии, правового государства и гражданского общества. Важно, чтобы граждане осознавали свою роль в обществе и активно использовали свои права для участия в управлении и контроля за действиями власти.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Гражданское общество и правовое государство являются взаимозависимыми и взаимодополняющими элементами демократического общества. Развитие гражданского общества способствует укреплению правового государства, а правовое государство обеспечивает условия для развития гражданского общества. Для достижения этих целей необходимо активное участие граждан, развитие механизмов контроля и защита прав, что в конечном итоге приведёт к более справедливому и стабильному обществу.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>
            <a:alphaModFix amt="24000"/>
          </a:blip>
          <a:srcRect l="0" r="0" t="0" b="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3EC">
              <a:alpha val="68000"/>
            </a:srgbClr>
          </a:solidFill>
          <a:ln w="12700">
            <a:solidFill>
              <a:srgbClr val="F7F3EC">
                <a:alpha val="68000"/>
              </a:srgbClr>
            </a:solidFill>
            <a:prstDash val="solid"/>
          </a:ln>
        </p:spPr>
      </p:sp>
      <p:sp>
        <p:nvSpPr>
          <p:cNvPr id="5" name="Shape 1"/>
          <p:cNvSpPr/>
          <p:nvPr/>
        </p:nvSpPr>
        <p:spPr>
          <a:xfrm>
            <a:off x="819150" y="1200150"/>
            <a:ext cx="1314450" cy="57150"/>
          </a:xfrm>
          <a:prstGeom prst="rect">
            <a:avLst/>
          </a:prstGeom>
          <a:solidFill>
            <a:srgbClr val="C24E2C"/>
          </a:solidFill>
          <a:ln w="12700">
            <a:solidFill>
              <a:srgbClr val="C24E2C"/>
            </a:solidFill>
            <a:prstDash val="solid"/>
          </a:ln>
        </p:spPr>
      </p:sp>
      <p:sp>
        <p:nvSpPr>
          <p:cNvPr id="6" name="Text 2"/>
          <p:cNvSpPr/>
          <p:nvPr/>
        </p:nvSpPr>
        <p:spPr>
          <a:xfrm>
            <a:off x="819150" y="1543050"/>
            <a:ext cx="6858000" cy="1638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4000"/>
              </a:lnSpc>
              <a:buNone/>
            </a:pPr>
            <a:r>
              <a:rPr lang="en-US" sz="4650" b="1" dirty="0">
                <a:solidFill>
                  <a:srgbClr val="17141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Гражданское общество</a:t>
            </a:r>
            <a:endParaRPr lang="en-US" sz="4650" dirty="0"/>
          </a:p>
        </p:txBody>
      </p:sp>
      <p:sp>
        <p:nvSpPr>
          <p:cNvPr id="7" name="Text 3"/>
          <p:cNvSpPr/>
          <p:nvPr/>
        </p:nvSpPr>
        <p:spPr>
          <a:xfrm>
            <a:off x="819150" y="3543300"/>
            <a:ext cx="6858000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4000"/>
              </a:lnSpc>
              <a:buNone/>
            </a:pPr>
            <a:r>
              <a:rPr lang="en-US" sz="2250" dirty="0">
                <a:solidFill>
                  <a:srgbClr val="6E62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Гражданское общество и правовое государство показывает центральную проблему выступления.</a:t>
            </a:r>
            <a:endParaRPr lang="en-US" sz="22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714375" y="381000"/>
            <a:ext cx="10734675" cy="1295400"/>
          </a:xfrm>
          <a:prstGeom prst="roundRect">
            <a:avLst/>
          </a:prstGeom>
          <a:solidFill>
            <a:srgbClr val="FFFFFF">
              <a:alpha val="92000"/>
            </a:srgbClr>
          </a:solidFill>
          <a:ln w="12700">
            <a:solidFill>
              <a:srgbClr val="DED2C4">
                <a:alpha val="92000"/>
              </a:srgbClr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1066800" y="1752600"/>
            <a:ext cx="10039350" cy="2838450"/>
          </a:xfrm>
          <a:prstGeom prst="roundRect">
            <a:avLst/>
          </a:prstGeom>
          <a:solidFill>
            <a:srgbClr val="FFFFFF">
              <a:alpha val="92000"/>
            </a:srgbClr>
          </a:solidFill>
          <a:ln w="12700">
            <a:solidFill>
              <a:srgbClr val="DED2C4">
                <a:alpha val="92000"/>
              </a:srgbClr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2819400" y="5181600"/>
            <a:ext cx="3143250" cy="1266825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24E2C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962025" y="533400"/>
            <a:ext cx="10239375" cy="990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4000"/>
              </a:lnSpc>
              <a:buNone/>
            </a:pPr>
            <a:r>
              <a:rPr lang="en-US" sz="2700" b="1" dirty="0">
                <a:solidFill>
                  <a:srgbClr val="17141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Структура гражданского общества</a:t>
            </a:r>
            <a:endParaRPr lang="en-US" sz="2700" dirty="0"/>
          </a:p>
        </p:txBody>
      </p:sp>
      <p:sp>
        <p:nvSpPr>
          <p:cNvPr id="7" name="Text 4"/>
          <p:cNvSpPr/>
          <p:nvPr/>
        </p:nvSpPr>
        <p:spPr>
          <a:xfrm>
            <a:off x="1238250" y="1866900"/>
            <a:ext cx="9696450" cy="2609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4000"/>
              </a:lnSpc>
              <a:buNone/>
            </a:pPr>
            <a:r>
              <a:rPr lang="en-US" sz="1875" b="1" dirty="0">
                <a:solidFill>
                  <a:srgbClr val="17141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НКО, профсоюзы, ассоциации и социальные группы являются ключевыми элементами гражданского общества. НКО, профсоюзы, ассоциации — ключевые элементы НКО, профсоюзы, ассоциации и социальные группы являются ключевыми элементами гражданского общества.</a:t>
            </a:r>
            <a:endParaRPr lang="en-US" sz="1875" dirty="0"/>
          </a:p>
        </p:txBody>
      </p:sp>
      <p:sp>
        <p:nvSpPr>
          <p:cNvPr id="8" name="Text 5"/>
          <p:cNvSpPr/>
          <p:nvPr/>
        </p:nvSpPr>
        <p:spPr>
          <a:xfrm>
            <a:off x="2990850" y="5295900"/>
            <a:ext cx="2800350" cy="10382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4000"/>
              </a:lnSpc>
              <a:buNone/>
            </a:pPr>
            <a:r>
              <a:rPr lang="en-US" sz="1800" b="1" dirty="0">
                <a:solidFill>
                  <a:srgbClr val="1714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НКО профсоюзы ассоциации ключевые элементы.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714375" y="381000"/>
            <a:ext cx="10734675" cy="1295400"/>
          </a:xfrm>
          <a:prstGeom prst="roundRect">
            <a:avLst/>
          </a:prstGeom>
          <a:solidFill>
            <a:srgbClr val="FFFFFF">
              <a:alpha val="92000"/>
            </a:srgbClr>
          </a:solidFill>
          <a:ln w="12700">
            <a:solidFill>
              <a:srgbClr val="DED2C4">
                <a:alpha val="92000"/>
              </a:srgbClr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1066800" y="1752600"/>
            <a:ext cx="10039350" cy="2838450"/>
          </a:xfrm>
          <a:prstGeom prst="roundRect">
            <a:avLst/>
          </a:prstGeom>
          <a:solidFill>
            <a:srgbClr val="FFFFFF">
              <a:alpha val="92000"/>
            </a:srgbClr>
          </a:solidFill>
          <a:ln w="12700">
            <a:solidFill>
              <a:srgbClr val="DED2C4">
                <a:alpha val="92000"/>
              </a:srgbClr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962025" y="533400"/>
            <a:ext cx="10239375" cy="990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4000"/>
              </a:lnSpc>
              <a:buNone/>
            </a:pPr>
            <a:r>
              <a:rPr lang="en-US" sz="2700" b="1" dirty="0">
                <a:solidFill>
                  <a:srgbClr val="17141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Правовое государство</a:t>
            </a:r>
            <a:endParaRPr lang="en-US" sz="2700" dirty="0"/>
          </a:p>
        </p:txBody>
      </p:sp>
      <p:sp>
        <p:nvSpPr>
          <p:cNvPr id="6" name="Text 3"/>
          <p:cNvSpPr/>
          <p:nvPr/>
        </p:nvSpPr>
        <p:spPr>
          <a:xfrm>
            <a:off x="1238250" y="1866900"/>
            <a:ext cx="9696450" cy="2609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4000"/>
              </a:lnSpc>
              <a:buNone/>
            </a:pPr>
            <a:r>
              <a:rPr lang="en-US" sz="1875" b="1" dirty="0">
                <a:solidFill>
                  <a:srgbClr val="17141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Главные факторы задают логику объяснения. Правовое государство — это государство, в котором власть ограничена законом, а права и свободы граждан защищены. В правовом государстве действуют принципы верховенства закона, разделения властей и защиты прав человека.</a:t>
            </a:r>
            <a:endParaRPr lang="en-US" sz="1875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838200" y="1828800"/>
            <a:ext cx="3365500" cy="2724150"/>
          </a:xfrm>
          <a:prstGeom prst="roundRect">
            <a:avLst/>
          </a:prstGeom>
          <a:solidFill>
            <a:srgbClr val="EFE7DA"/>
          </a:solidFill>
          <a:ln w="12700">
            <a:solidFill>
              <a:srgbClr val="DED2C4"/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4413250" y="1828800"/>
            <a:ext cx="3365500" cy="272415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D2C4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7988300" y="1828800"/>
            <a:ext cx="3365500" cy="2724150"/>
          </a:xfrm>
          <a:prstGeom prst="roundRect">
            <a:avLst/>
          </a:prstGeom>
          <a:solidFill>
            <a:srgbClr val="EFE7DA"/>
          </a:solidFill>
          <a:ln w="12700">
            <a:solidFill>
              <a:srgbClr val="DED2C4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409575" y="381000"/>
            <a:ext cx="11372850" cy="1295400"/>
          </a:xfrm>
          <a:prstGeom prst="roundRect">
            <a:avLst/>
          </a:prstGeom>
          <a:solidFill>
            <a:srgbClr val="FFFFFF">
              <a:alpha val="92000"/>
            </a:srgbClr>
          </a:solidFill>
          <a:ln w="12700">
            <a:solidFill>
              <a:srgbClr val="DED2C4">
                <a:alpha val="92000"/>
              </a:srgbClr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57225" y="533400"/>
            <a:ext cx="10877550" cy="990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4000"/>
              </a:lnSpc>
              <a:buNone/>
            </a:pPr>
            <a:r>
              <a:rPr lang="en-US" sz="2625" b="1" dirty="0">
                <a:solidFill>
                  <a:srgbClr val="17141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Принципы правового государства</a:t>
            </a:r>
            <a:endParaRPr lang="en-US" sz="2625" dirty="0"/>
          </a:p>
        </p:txBody>
      </p:sp>
      <p:sp>
        <p:nvSpPr>
          <p:cNvPr id="8" name="Text 5"/>
          <p:cNvSpPr/>
          <p:nvPr/>
        </p:nvSpPr>
        <p:spPr>
          <a:xfrm>
            <a:off x="1066800" y="2076450"/>
            <a:ext cx="29083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4000"/>
              </a:lnSpc>
              <a:buNone/>
            </a:pPr>
            <a:r>
              <a:rPr lang="en-US" sz="1350" b="1" dirty="0">
                <a:solidFill>
                  <a:srgbClr val="17141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1066800" y="2647950"/>
            <a:ext cx="2908300" cy="1466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4000"/>
              </a:lnSpc>
              <a:buNone/>
            </a:pPr>
            <a:r>
              <a:rPr lang="en-US" sz="1650" dirty="0">
                <a:solidFill>
                  <a:srgbClr val="6E62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Верховенство закона.</a:t>
            </a:r>
            <a:endParaRPr lang="en-US" sz="1650" dirty="0"/>
          </a:p>
        </p:txBody>
      </p:sp>
      <p:sp>
        <p:nvSpPr>
          <p:cNvPr id="10" name="Text 7"/>
          <p:cNvSpPr/>
          <p:nvPr/>
        </p:nvSpPr>
        <p:spPr>
          <a:xfrm>
            <a:off x="4641850" y="2076450"/>
            <a:ext cx="29083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4000"/>
              </a:lnSpc>
              <a:buNone/>
            </a:pPr>
            <a:r>
              <a:rPr lang="en-US" sz="1350" b="1" dirty="0">
                <a:solidFill>
                  <a:srgbClr val="17141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1350" dirty="0"/>
          </a:p>
        </p:txBody>
      </p:sp>
      <p:sp>
        <p:nvSpPr>
          <p:cNvPr id="11" name="Text 8"/>
          <p:cNvSpPr/>
          <p:nvPr/>
        </p:nvSpPr>
        <p:spPr>
          <a:xfrm>
            <a:off x="4641850" y="2647950"/>
            <a:ext cx="2908300" cy="1466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4000"/>
              </a:lnSpc>
              <a:buNone/>
            </a:pPr>
            <a:r>
              <a:rPr lang="en-US" sz="1650" dirty="0">
                <a:solidFill>
                  <a:srgbClr val="6E62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Разделение властей.</a:t>
            </a:r>
            <a:endParaRPr lang="en-US" sz="1650" dirty="0"/>
          </a:p>
        </p:txBody>
      </p:sp>
      <p:sp>
        <p:nvSpPr>
          <p:cNvPr id="12" name="Text 9"/>
          <p:cNvSpPr/>
          <p:nvPr/>
        </p:nvSpPr>
        <p:spPr>
          <a:xfrm>
            <a:off x="8216900" y="2076450"/>
            <a:ext cx="29083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4000"/>
              </a:lnSpc>
              <a:buNone/>
            </a:pPr>
            <a:r>
              <a:rPr lang="en-US" sz="1350" b="1" dirty="0">
                <a:solidFill>
                  <a:srgbClr val="17141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1350" dirty="0"/>
          </a:p>
        </p:txBody>
      </p:sp>
      <p:sp>
        <p:nvSpPr>
          <p:cNvPr id="13" name="Text 10"/>
          <p:cNvSpPr/>
          <p:nvPr/>
        </p:nvSpPr>
        <p:spPr>
          <a:xfrm>
            <a:off x="8216900" y="2647950"/>
            <a:ext cx="2908300" cy="1466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4000"/>
              </a:lnSpc>
              <a:buNone/>
            </a:pPr>
            <a:r>
              <a:rPr lang="en-US" sz="1650" dirty="0">
                <a:solidFill>
                  <a:srgbClr val="6E62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Защита прав и свобод граждан.</a:t>
            </a:r>
            <a:endParaRPr lang="en-US" sz="16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714375" y="381000"/>
            <a:ext cx="10734675" cy="1371600"/>
          </a:xfrm>
          <a:prstGeom prst="roundRect">
            <a:avLst/>
          </a:prstGeom>
          <a:solidFill>
            <a:srgbClr val="FFFFFF">
              <a:alpha val="92000"/>
            </a:srgbClr>
          </a:solidFill>
          <a:ln w="12700">
            <a:solidFill>
              <a:srgbClr val="DED2C4">
                <a:alpha val="92000"/>
              </a:srgbClr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1200150" y="2743200"/>
            <a:ext cx="9791700" cy="1752600"/>
          </a:xfrm>
          <a:prstGeom prst="roundRect">
            <a:avLst/>
          </a:prstGeom>
          <a:solidFill>
            <a:srgbClr val="FFFFFF">
              <a:alpha val="92000"/>
            </a:srgbClr>
          </a:solidFill>
          <a:ln w="12700">
            <a:solidFill>
              <a:srgbClr val="DED2C4">
                <a:alpha val="92000"/>
              </a:srgbClr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962025" y="533400"/>
            <a:ext cx="10239375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4000"/>
              </a:lnSpc>
              <a:buNone/>
            </a:pPr>
            <a:r>
              <a:rPr lang="en-US" sz="3225" b="1" dirty="0">
                <a:solidFill>
                  <a:srgbClr val="17141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Взаимодействие гражданского общества и правового государства</a:t>
            </a:r>
            <a:endParaRPr lang="en-US" sz="3225" dirty="0"/>
          </a:p>
        </p:txBody>
      </p:sp>
      <p:sp>
        <p:nvSpPr>
          <p:cNvPr id="6" name="Text 3"/>
          <p:cNvSpPr/>
          <p:nvPr/>
        </p:nvSpPr>
        <p:spPr>
          <a:xfrm>
            <a:off x="1371600" y="2857500"/>
            <a:ext cx="9448800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4000"/>
              </a:lnSpc>
              <a:buNone/>
            </a:pPr>
            <a:r>
              <a:rPr lang="en-US" sz="1650" dirty="0">
                <a:solidFill>
                  <a:srgbClr val="6E62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Гражданское общество и правовое государство взаимодействуют через механизмы участия граждан в управлении, контроля за властью и защиты прав. Механизмы участия граждан в управлении Гражданское общество и правовое государство взаимодействуют через механизмы участия граждан в управлении, контроля за властью и защиты прав.</a:t>
            </a:r>
            <a:endParaRPr lang="en-US" sz="16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2190750" y="2571750"/>
            <a:ext cx="7810500" cy="2362200"/>
          </a:xfrm>
          <a:prstGeom prst="roundRect">
            <a:avLst/>
          </a:prstGeom>
          <a:solidFill>
            <a:srgbClr val="EFE7DA"/>
          </a:solidFill>
          <a:ln w="12700">
            <a:solidFill>
              <a:srgbClr val="DED2C4"/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409575" y="381000"/>
            <a:ext cx="11372850" cy="1295400"/>
          </a:xfrm>
          <a:prstGeom prst="roundRect">
            <a:avLst/>
          </a:prstGeom>
          <a:solidFill>
            <a:srgbClr val="FFFFFF">
              <a:alpha val="92000"/>
            </a:srgbClr>
          </a:solidFill>
          <a:ln w="12700">
            <a:solidFill>
              <a:srgbClr val="DED2C4">
                <a:alpha val="92000"/>
              </a:srgbClr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704850" y="1638300"/>
            <a:ext cx="10782300" cy="762000"/>
          </a:xfrm>
          <a:prstGeom prst="roundRect">
            <a:avLst/>
          </a:prstGeom>
          <a:solidFill>
            <a:srgbClr val="FFFFFF">
              <a:alpha val="92000"/>
            </a:srgbClr>
          </a:solidFill>
          <a:ln w="12700">
            <a:solidFill>
              <a:srgbClr val="DED2C4">
                <a:alpha val="92000"/>
              </a:srgbClr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657225" y="533400"/>
            <a:ext cx="10877550" cy="990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4000"/>
              </a:lnSpc>
              <a:buNone/>
            </a:pPr>
            <a:r>
              <a:rPr lang="en-US" sz="2625" b="1" dirty="0">
                <a:solidFill>
                  <a:srgbClr val="17141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Проблемы развития</a:t>
            </a:r>
            <a:endParaRPr lang="en-US" sz="2625" dirty="0"/>
          </a:p>
        </p:txBody>
      </p:sp>
      <p:sp>
        <p:nvSpPr>
          <p:cNvPr id="7" name="Text 4"/>
          <p:cNvSpPr/>
          <p:nvPr/>
        </p:nvSpPr>
        <p:spPr>
          <a:xfrm>
            <a:off x="876300" y="1752600"/>
            <a:ext cx="104394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4000"/>
              </a:lnSpc>
              <a:buNone/>
            </a:pPr>
            <a:r>
              <a:rPr lang="en-US" sz="1650" dirty="0">
                <a:solidFill>
                  <a:srgbClr val="6E62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Проблемы в развитии гражданского общества и правового государства включают недостаток участия граждан, слабые механизмы контроля за властью и.</a:t>
            </a:r>
            <a:endParaRPr lang="en-US" sz="1650" dirty="0"/>
          </a:p>
        </p:txBody>
      </p:sp>
      <p:sp>
        <p:nvSpPr>
          <p:cNvPr id="8" name="Text 5"/>
          <p:cNvSpPr/>
          <p:nvPr/>
        </p:nvSpPr>
        <p:spPr>
          <a:xfrm>
            <a:off x="2400300" y="2800350"/>
            <a:ext cx="73914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4000"/>
              </a:lnSpc>
              <a:buNone/>
            </a:pPr>
            <a:r>
              <a:rPr lang="en-US" sz="1800" b="1" dirty="0">
                <a:solidFill>
                  <a:srgbClr val="C24E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2400300" y="3390900"/>
            <a:ext cx="7391400" cy="1219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4000"/>
              </a:lnSpc>
              <a:buNone/>
            </a:pPr>
            <a:r>
              <a:rPr lang="en-US" sz="1650" dirty="0">
                <a:solidFill>
                  <a:srgbClr val="6E62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Недостаток участия граждан.</a:t>
            </a:r>
            <a:endParaRPr lang="en-US" sz="16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819150" y="3048000"/>
            <a:ext cx="10553700" cy="28575"/>
          </a:xfrm>
          <a:prstGeom prst="rect">
            <a:avLst/>
          </a:prstGeom>
          <a:solidFill>
            <a:srgbClr val="C24E2C"/>
          </a:solidFill>
          <a:ln w="12700">
            <a:solidFill>
              <a:srgbClr val="C24E2C"/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409575" y="381000"/>
            <a:ext cx="11372850" cy="1295400"/>
          </a:xfrm>
          <a:prstGeom prst="roundRect">
            <a:avLst/>
          </a:prstGeom>
          <a:solidFill>
            <a:srgbClr val="FFFFFF">
              <a:alpha val="92000"/>
            </a:srgbClr>
          </a:solidFill>
          <a:ln w="12700">
            <a:solidFill>
              <a:srgbClr val="DED2C4">
                <a:alpha val="92000"/>
              </a:srgbClr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647700" y="1752600"/>
            <a:ext cx="10896600" cy="1219200"/>
          </a:xfrm>
          <a:prstGeom prst="roundRect">
            <a:avLst/>
          </a:prstGeom>
          <a:solidFill>
            <a:srgbClr val="FFFFFF">
              <a:alpha val="92000"/>
            </a:srgbClr>
          </a:solidFill>
          <a:ln w="12700">
            <a:solidFill>
              <a:srgbClr val="DED2C4">
                <a:alpha val="92000"/>
              </a:srgbClr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819150" y="3352800"/>
            <a:ext cx="266700" cy="266700"/>
          </a:xfrm>
          <a:prstGeom prst="ellipse">
            <a:avLst/>
          </a:prstGeom>
          <a:solidFill>
            <a:srgbClr val="1F5B68"/>
          </a:solidFill>
          <a:ln w="12700">
            <a:solidFill>
              <a:srgbClr val="1F5B68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1066800" y="3200400"/>
            <a:ext cx="5105400" cy="914400"/>
          </a:xfrm>
          <a:prstGeom prst="roundRect">
            <a:avLst/>
          </a:prstGeom>
          <a:solidFill>
            <a:srgbClr val="FFFFFF">
              <a:alpha val="92000"/>
            </a:srgbClr>
          </a:solidFill>
          <a:ln w="12700">
            <a:solidFill>
              <a:srgbClr val="DED2C4">
                <a:alpha val="92000"/>
              </a:srgbClr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6153150" y="3352800"/>
            <a:ext cx="266700" cy="266700"/>
          </a:xfrm>
          <a:prstGeom prst="ellipse">
            <a:avLst/>
          </a:prstGeom>
          <a:solidFill>
            <a:srgbClr val="1F5B68"/>
          </a:solidFill>
          <a:ln w="12700">
            <a:solidFill>
              <a:srgbClr val="1F5B68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6400800" y="3200400"/>
            <a:ext cx="5105400" cy="914400"/>
          </a:xfrm>
          <a:prstGeom prst="roundRect">
            <a:avLst/>
          </a:prstGeom>
          <a:solidFill>
            <a:srgbClr val="FFFFFF">
              <a:alpha val="92000"/>
            </a:srgbClr>
          </a:solidFill>
          <a:ln w="12700">
            <a:solidFill>
              <a:srgbClr val="DED2C4">
                <a:alpha val="92000"/>
              </a:srgbClr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819150" y="4343400"/>
            <a:ext cx="266700" cy="266700"/>
          </a:xfrm>
          <a:prstGeom prst="ellipse">
            <a:avLst/>
          </a:prstGeom>
          <a:solidFill>
            <a:srgbClr val="1F5B68"/>
          </a:solidFill>
          <a:ln w="12700">
            <a:solidFill>
              <a:srgbClr val="1F5B68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1066800" y="4191000"/>
            <a:ext cx="5105400" cy="914400"/>
          </a:xfrm>
          <a:prstGeom prst="roundRect">
            <a:avLst/>
          </a:prstGeom>
          <a:solidFill>
            <a:srgbClr val="FFFFFF">
              <a:alpha val="92000"/>
            </a:srgbClr>
          </a:solidFill>
          <a:ln w="12700">
            <a:solidFill>
              <a:srgbClr val="DED2C4">
                <a:alpha val="92000"/>
              </a:srgbClr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647700" y="5362575"/>
            <a:ext cx="3619500" cy="685800"/>
          </a:xfrm>
          <a:prstGeom prst="roundRect">
            <a:avLst/>
          </a:prstGeom>
          <a:solidFill>
            <a:srgbClr val="FFFFFF">
              <a:alpha val="92000"/>
            </a:srgbClr>
          </a:solidFill>
          <a:ln w="12700">
            <a:solidFill>
              <a:srgbClr val="DED2C4">
                <a:alpha val="92000"/>
              </a:srgbClr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57225" y="533400"/>
            <a:ext cx="10877550" cy="990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4000"/>
              </a:lnSpc>
              <a:buNone/>
            </a:pPr>
            <a:r>
              <a:rPr lang="en-US" sz="2625" b="1" dirty="0">
                <a:solidFill>
                  <a:srgbClr val="17141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Перспективы развития</a:t>
            </a:r>
            <a:endParaRPr lang="en-US" sz="2625" dirty="0"/>
          </a:p>
        </p:txBody>
      </p:sp>
      <p:sp>
        <p:nvSpPr>
          <p:cNvPr id="14" name="Text 11"/>
          <p:cNvSpPr/>
          <p:nvPr/>
        </p:nvSpPr>
        <p:spPr>
          <a:xfrm>
            <a:off x="819150" y="1866900"/>
            <a:ext cx="10553700" cy="990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4000"/>
              </a:lnSpc>
              <a:buNone/>
            </a:pPr>
            <a:r>
              <a:rPr lang="en-US" sz="1875" b="1" dirty="0">
                <a:solidFill>
                  <a:srgbClr val="17141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Развитие гражданского общества и правового государства предполагает усиление участия граждан и развитие механизмов контроля.</a:t>
            </a:r>
            <a:endParaRPr lang="en-US" sz="1875" dirty="0"/>
          </a:p>
        </p:txBody>
      </p:sp>
      <p:sp>
        <p:nvSpPr>
          <p:cNvPr id="15" name="Text 12"/>
          <p:cNvSpPr/>
          <p:nvPr/>
        </p:nvSpPr>
        <p:spPr>
          <a:xfrm>
            <a:off x="1238250" y="3314700"/>
            <a:ext cx="47625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4000"/>
              </a:lnSpc>
              <a:buNone/>
            </a:pPr>
            <a:r>
              <a:rPr lang="en-US" sz="1650" dirty="0">
                <a:solidFill>
                  <a:srgbClr val="6E62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Усиление участия граждан</a:t>
            </a:r>
            <a:endParaRPr lang="en-US" sz="1650" dirty="0"/>
          </a:p>
        </p:txBody>
      </p:sp>
      <p:sp>
        <p:nvSpPr>
          <p:cNvPr id="16" name="Text 13"/>
          <p:cNvSpPr/>
          <p:nvPr/>
        </p:nvSpPr>
        <p:spPr>
          <a:xfrm>
            <a:off x="6572250" y="3314700"/>
            <a:ext cx="47625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4000"/>
              </a:lnSpc>
              <a:buNone/>
            </a:pPr>
            <a:r>
              <a:rPr lang="en-US" sz="1650" dirty="0">
                <a:solidFill>
                  <a:srgbClr val="6E62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Развитие механизмов контроля</a:t>
            </a:r>
            <a:endParaRPr lang="en-US" sz="1650" dirty="0"/>
          </a:p>
        </p:txBody>
      </p:sp>
      <p:sp>
        <p:nvSpPr>
          <p:cNvPr id="17" name="Text 14"/>
          <p:cNvSpPr/>
          <p:nvPr/>
        </p:nvSpPr>
        <p:spPr>
          <a:xfrm>
            <a:off x="1238250" y="4305300"/>
            <a:ext cx="47625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4000"/>
              </a:lnSpc>
              <a:buNone/>
            </a:pPr>
            <a:r>
              <a:rPr lang="en-US" sz="1650" dirty="0">
                <a:solidFill>
                  <a:srgbClr val="6E62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Защита прав граждан</a:t>
            </a:r>
            <a:endParaRPr lang="en-US" sz="1650" dirty="0"/>
          </a:p>
        </p:txBody>
      </p:sp>
      <p:sp>
        <p:nvSpPr>
          <p:cNvPr id="18" name="Text 15"/>
          <p:cNvSpPr/>
          <p:nvPr/>
        </p:nvSpPr>
        <p:spPr>
          <a:xfrm>
            <a:off x="819150" y="5476875"/>
            <a:ext cx="3276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4000"/>
              </a:lnSpc>
              <a:buNone/>
            </a:pPr>
            <a:r>
              <a:rPr lang="en-US" sz="1050" dirty="0">
                <a:solidFill>
                  <a:srgbClr val="6E62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Материал — Гражданское общество - это совокупность организаций и отношений между гражданами и...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2190750" y="2571750"/>
            <a:ext cx="7810500" cy="2362200"/>
          </a:xfrm>
          <a:prstGeom prst="roundRect">
            <a:avLst/>
          </a:prstGeom>
          <a:solidFill>
            <a:srgbClr val="EFE7DA"/>
          </a:solidFill>
          <a:ln w="12700">
            <a:solidFill>
              <a:srgbClr val="DED2C4"/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409575" y="381000"/>
            <a:ext cx="11372850" cy="1295400"/>
          </a:xfrm>
          <a:prstGeom prst="roundRect">
            <a:avLst/>
          </a:prstGeom>
          <a:solidFill>
            <a:srgbClr val="FFFFFF">
              <a:alpha val="92000"/>
            </a:srgbClr>
          </a:solidFill>
          <a:ln w="12700">
            <a:solidFill>
              <a:srgbClr val="DED2C4">
                <a:alpha val="92000"/>
              </a:srgbClr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704850" y="1638300"/>
            <a:ext cx="10782300" cy="762000"/>
          </a:xfrm>
          <a:prstGeom prst="roundRect">
            <a:avLst/>
          </a:prstGeom>
          <a:solidFill>
            <a:srgbClr val="FFFFFF">
              <a:alpha val="92000"/>
            </a:srgbClr>
          </a:solidFill>
          <a:ln w="12700">
            <a:solidFill>
              <a:srgbClr val="DED2C4">
                <a:alpha val="92000"/>
              </a:srgbClr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657225" y="533400"/>
            <a:ext cx="10877550" cy="990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4000"/>
              </a:lnSpc>
              <a:buNone/>
            </a:pPr>
            <a:r>
              <a:rPr lang="en-US" sz="2625" b="1" dirty="0">
                <a:solidFill>
                  <a:srgbClr val="17141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Примеры успешного взаимодействия</a:t>
            </a:r>
            <a:endParaRPr lang="en-US" sz="2625" dirty="0"/>
          </a:p>
        </p:txBody>
      </p:sp>
      <p:sp>
        <p:nvSpPr>
          <p:cNvPr id="7" name="Text 4"/>
          <p:cNvSpPr/>
          <p:nvPr/>
        </p:nvSpPr>
        <p:spPr>
          <a:xfrm>
            <a:off x="876300" y="1752600"/>
            <a:ext cx="104394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4000"/>
              </a:lnSpc>
              <a:buNone/>
            </a:pPr>
            <a:r>
              <a:rPr lang="en-US" sz="1650" dirty="0">
                <a:solidFill>
                  <a:srgbClr val="6E62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Контекст помогает увидеть исходную ситуацию.</a:t>
            </a:r>
            <a:endParaRPr lang="en-US" sz="1650" dirty="0"/>
          </a:p>
        </p:txBody>
      </p:sp>
      <p:sp>
        <p:nvSpPr>
          <p:cNvPr id="8" name="Text 5"/>
          <p:cNvSpPr/>
          <p:nvPr/>
        </p:nvSpPr>
        <p:spPr>
          <a:xfrm>
            <a:off x="2400300" y="2800350"/>
            <a:ext cx="73914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4000"/>
              </a:lnSpc>
              <a:buNone/>
            </a:pPr>
            <a:r>
              <a:rPr lang="en-US" sz="1800" b="1" dirty="0">
                <a:solidFill>
                  <a:srgbClr val="C24E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2400300" y="3390900"/>
            <a:ext cx="7391400" cy="1219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4000"/>
              </a:lnSpc>
              <a:buNone/>
            </a:pPr>
            <a:r>
              <a:rPr lang="en-US" sz="1650" dirty="0">
                <a:solidFill>
                  <a:srgbClr val="6E62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Успешные механизмы участия граждан.</a:t>
            </a:r>
            <a:endParaRPr lang="en-US" sz="16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>
            <a:alphaModFix amt="90000"/>
          </a:blip>
          <a:srcRect l="0" r="0" t="0" b="0"/>
          <a:stretch/>
        </p:blipFill>
        <p:spPr>
          <a:xfrm>
            <a:off x="6667500" y="0"/>
            <a:ext cx="5524500" cy="685800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0" y="0"/>
            <a:ext cx="6762750" cy="6858000"/>
          </a:xfrm>
          <a:prstGeom prst="rect">
            <a:avLst/>
          </a:prstGeom>
          <a:solidFill>
            <a:srgbClr val="F7F3EC">
              <a:alpha val="96000"/>
            </a:srgbClr>
          </a:solidFill>
          <a:ln w="12700">
            <a:solidFill>
              <a:srgbClr val="F7F3EC">
                <a:alpha val="96000"/>
              </a:srgbClr>
            </a:solidFill>
            <a:prstDash val="solid"/>
          </a:ln>
        </p:spPr>
      </p:sp>
      <p:sp>
        <p:nvSpPr>
          <p:cNvPr id="5" name="Shape 1"/>
          <p:cNvSpPr/>
          <p:nvPr/>
        </p:nvSpPr>
        <p:spPr>
          <a:xfrm>
            <a:off x="800100" y="1162050"/>
            <a:ext cx="876300" cy="47625"/>
          </a:xfrm>
          <a:prstGeom prst="rect">
            <a:avLst/>
          </a:prstGeom>
          <a:solidFill>
            <a:srgbClr val="C24E2C"/>
          </a:solidFill>
          <a:ln w="12700">
            <a:solidFill>
              <a:srgbClr val="C24E2C"/>
            </a:solidFill>
            <a:prstDash val="solid"/>
          </a:ln>
        </p:spPr>
      </p:sp>
      <p:sp>
        <p:nvSpPr>
          <p:cNvPr id="6" name="Shape 2"/>
          <p:cNvSpPr/>
          <p:nvPr/>
        </p:nvSpPr>
        <p:spPr>
          <a:xfrm>
            <a:off x="800100" y="5219700"/>
            <a:ext cx="3143250" cy="97155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24E2C"/>
            </a:solidFill>
            <a:prstDash val="solid"/>
          </a:ln>
        </p:spPr>
      </p:sp>
      <p:sp>
        <p:nvSpPr>
          <p:cNvPr id="7" name="Text 3"/>
          <p:cNvSpPr/>
          <p:nvPr/>
        </p:nvSpPr>
        <p:spPr>
          <a:xfrm>
            <a:off x="971550" y="5334000"/>
            <a:ext cx="2800350" cy="742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4000"/>
              </a:lnSpc>
              <a:buNone/>
            </a:pPr>
            <a:r>
              <a:rPr lang="en-US" sz="1800" b="1" dirty="0">
                <a:solidFill>
                  <a:srgbClr val="1714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Важность участия граждан.</a:t>
            </a:r>
            <a:endParaRPr lang="en-US" sz="1800" dirty="0"/>
          </a:p>
        </p:txBody>
      </p:sp>
      <p:sp>
        <p:nvSpPr>
          <p:cNvPr id="8" name="Text 4"/>
          <p:cNvSpPr/>
          <p:nvPr/>
        </p:nvSpPr>
        <p:spPr>
          <a:xfrm>
            <a:off x="800100" y="1466850"/>
            <a:ext cx="5334000" cy="1123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4000"/>
              </a:lnSpc>
              <a:buNone/>
            </a:pPr>
            <a:r>
              <a:rPr lang="en-US" sz="3225" b="1" dirty="0">
                <a:solidFill>
                  <a:srgbClr val="17141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Уроки успешного взаимодействия</a:t>
            </a:r>
            <a:endParaRPr lang="en-US" sz="3225" dirty="0"/>
          </a:p>
        </p:txBody>
      </p:sp>
      <p:sp>
        <p:nvSpPr>
          <p:cNvPr id="9" name="Text 5"/>
          <p:cNvSpPr/>
          <p:nvPr/>
        </p:nvSpPr>
        <p:spPr>
          <a:xfrm>
            <a:off x="800100" y="2952750"/>
            <a:ext cx="5219700" cy="1409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4000"/>
              </a:lnSpc>
              <a:buNone/>
            </a:pPr>
            <a:r>
              <a:rPr lang="en-US" sz="2250" dirty="0">
                <a:solidFill>
                  <a:srgbClr val="6E62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Главные факторы задают логику объяснения.</a:t>
            </a:r>
            <a:endParaRPr lang="en-US" sz="22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09575" y="381000"/>
            <a:ext cx="11372850" cy="1295400"/>
          </a:xfrm>
          <a:prstGeom prst="roundRect">
            <a:avLst/>
          </a:prstGeom>
          <a:solidFill>
            <a:srgbClr val="FFFFFF">
              <a:alpha val="92000"/>
            </a:srgbClr>
          </a:solidFill>
          <a:ln w="12700">
            <a:solidFill>
              <a:srgbClr val="DED2C4">
                <a:alpha val="92000"/>
              </a:srgbClr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495300" y="1752600"/>
            <a:ext cx="6438900" cy="1657350"/>
          </a:xfrm>
          <a:prstGeom prst="roundRect">
            <a:avLst/>
          </a:prstGeom>
          <a:solidFill>
            <a:srgbClr val="FFFFFF">
              <a:alpha val="92000"/>
            </a:srgbClr>
          </a:solidFill>
          <a:ln w="12700">
            <a:solidFill>
              <a:srgbClr val="DED2C4">
                <a:alpha val="92000"/>
              </a:srgbClr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666750" y="4476750"/>
            <a:ext cx="6096000" cy="47625"/>
          </a:xfrm>
          <a:prstGeom prst="rect">
            <a:avLst/>
          </a:prstGeom>
          <a:solidFill>
            <a:srgbClr val="C24E2C"/>
          </a:solidFill>
          <a:ln w="12700">
            <a:solidFill>
              <a:srgbClr val="C24E2C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7353300" y="1790700"/>
            <a:ext cx="4133850" cy="552450"/>
          </a:xfrm>
          <a:prstGeom prst="roundRect">
            <a:avLst/>
          </a:prstGeom>
          <a:solidFill>
            <a:srgbClr val="FFFFFF">
              <a:alpha val="92000"/>
            </a:srgbClr>
          </a:solidFill>
          <a:ln w="12700">
            <a:solidFill>
              <a:srgbClr val="DED2C4">
                <a:alpha val="92000"/>
              </a:srgbClr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7543800" y="2590800"/>
            <a:ext cx="114300" cy="114300"/>
          </a:xfrm>
          <a:prstGeom prst="ellipse">
            <a:avLst/>
          </a:prstGeom>
          <a:solidFill>
            <a:srgbClr val="1F5B68"/>
          </a:solidFill>
          <a:ln w="12700">
            <a:solidFill>
              <a:srgbClr val="1F5B68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7696200" y="2400300"/>
            <a:ext cx="3790950" cy="1019175"/>
          </a:xfrm>
          <a:prstGeom prst="roundRect">
            <a:avLst/>
          </a:prstGeom>
          <a:solidFill>
            <a:srgbClr val="FFFFFF">
              <a:alpha val="92000"/>
            </a:srgbClr>
          </a:solidFill>
          <a:ln w="12700">
            <a:solidFill>
              <a:srgbClr val="DED2C4">
                <a:alpha val="92000"/>
              </a:srgbClr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7543800" y="3648075"/>
            <a:ext cx="114300" cy="114300"/>
          </a:xfrm>
          <a:prstGeom prst="ellipse">
            <a:avLst/>
          </a:prstGeom>
          <a:solidFill>
            <a:srgbClr val="1F5B68"/>
          </a:solidFill>
          <a:ln w="12700">
            <a:solidFill>
              <a:srgbClr val="1F5B68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7696200" y="3457575"/>
            <a:ext cx="3790950" cy="1276350"/>
          </a:xfrm>
          <a:prstGeom prst="roundRect">
            <a:avLst/>
          </a:prstGeom>
          <a:solidFill>
            <a:srgbClr val="FFFFFF">
              <a:alpha val="92000"/>
            </a:srgbClr>
          </a:solidFill>
          <a:ln w="12700">
            <a:solidFill>
              <a:srgbClr val="DED2C4">
                <a:alpha val="92000"/>
              </a:srgbClr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7543800" y="4962525"/>
            <a:ext cx="114300" cy="114300"/>
          </a:xfrm>
          <a:prstGeom prst="ellipse">
            <a:avLst/>
          </a:prstGeom>
          <a:solidFill>
            <a:srgbClr val="1F5B68"/>
          </a:solidFill>
          <a:ln w="12700">
            <a:solidFill>
              <a:srgbClr val="1F5B68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7696200" y="4772025"/>
            <a:ext cx="3790950" cy="752475"/>
          </a:xfrm>
          <a:prstGeom prst="roundRect">
            <a:avLst/>
          </a:prstGeom>
          <a:solidFill>
            <a:srgbClr val="FFFFFF">
              <a:alpha val="92000"/>
            </a:srgbClr>
          </a:solidFill>
          <a:ln w="12700">
            <a:solidFill>
              <a:srgbClr val="DED2C4">
                <a:alpha val="92000"/>
              </a:srgbClr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57225" y="533400"/>
            <a:ext cx="10877550" cy="990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4000"/>
              </a:lnSpc>
              <a:buNone/>
            </a:pPr>
            <a:r>
              <a:rPr lang="en-US" sz="2625" b="1" dirty="0">
                <a:solidFill>
                  <a:srgbClr val="17141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Заключение</a:t>
            </a:r>
            <a:endParaRPr lang="en-US" sz="2625" dirty="0"/>
          </a:p>
        </p:txBody>
      </p:sp>
      <p:sp>
        <p:nvSpPr>
          <p:cNvPr id="14" name="Text 11"/>
          <p:cNvSpPr/>
          <p:nvPr/>
        </p:nvSpPr>
        <p:spPr>
          <a:xfrm>
            <a:off x="666750" y="1866900"/>
            <a:ext cx="6096000" cy="142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4000"/>
              </a:lnSpc>
              <a:buNone/>
            </a:pPr>
            <a:r>
              <a:rPr lang="en-US" sz="1950" b="1" dirty="0">
                <a:solidFill>
                  <a:srgbClr val="17141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Гражданское общество и правовое государство являются взаимозависимыми и взаимодополняющими элементами демократического общества.</a:t>
            </a:r>
            <a:endParaRPr lang="en-US" sz="1950" dirty="0"/>
          </a:p>
        </p:txBody>
      </p:sp>
      <p:sp>
        <p:nvSpPr>
          <p:cNvPr id="15" name="Text 12"/>
          <p:cNvSpPr/>
          <p:nvPr/>
        </p:nvSpPr>
        <p:spPr>
          <a:xfrm>
            <a:off x="7524750" y="1905000"/>
            <a:ext cx="379095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4000"/>
              </a:lnSpc>
              <a:buNone/>
            </a:pPr>
            <a:r>
              <a:rPr lang="en-US" sz="1800" b="1" dirty="0">
                <a:solidFill>
                  <a:srgbClr val="17141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Ключевые мысли</a:t>
            </a:r>
            <a:endParaRPr lang="en-US" sz="1800" dirty="0"/>
          </a:p>
        </p:txBody>
      </p:sp>
      <p:sp>
        <p:nvSpPr>
          <p:cNvPr id="16" name="Text 13"/>
          <p:cNvSpPr/>
          <p:nvPr/>
        </p:nvSpPr>
        <p:spPr>
          <a:xfrm>
            <a:off x="7867650" y="2514600"/>
            <a:ext cx="3448050" cy="7905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4000"/>
              </a:lnSpc>
              <a:buNone/>
            </a:pPr>
            <a:r>
              <a:rPr lang="en-US" sz="1800" dirty="0">
                <a:solidFill>
                  <a:srgbClr val="6E62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Взаимозависимость гражданского общества и правового государства.</a:t>
            </a:r>
            <a:endParaRPr lang="en-US" sz="1800" dirty="0"/>
          </a:p>
        </p:txBody>
      </p:sp>
      <p:sp>
        <p:nvSpPr>
          <p:cNvPr id="17" name="Text 14"/>
          <p:cNvSpPr/>
          <p:nvPr/>
        </p:nvSpPr>
        <p:spPr>
          <a:xfrm>
            <a:off x="7867650" y="3571875"/>
            <a:ext cx="3448050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4000"/>
              </a:lnSpc>
              <a:buNone/>
            </a:pPr>
            <a:r>
              <a:rPr lang="en-US" sz="1800" dirty="0">
                <a:solidFill>
                  <a:srgbClr val="6E62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Развитие гражданского общества способствует укреплению правового государства.</a:t>
            </a:r>
            <a:endParaRPr lang="en-US" sz="1800" dirty="0"/>
          </a:p>
        </p:txBody>
      </p:sp>
      <p:sp>
        <p:nvSpPr>
          <p:cNvPr id="18" name="Text 15"/>
          <p:cNvSpPr/>
          <p:nvPr/>
        </p:nvSpPr>
        <p:spPr>
          <a:xfrm>
            <a:off x="7867650" y="4886325"/>
            <a:ext cx="3448050" cy="5238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4000"/>
              </a:lnSpc>
              <a:buNone/>
            </a:pPr>
            <a:r>
              <a:rPr lang="en-US" sz="1800" dirty="0">
                <a:solidFill>
                  <a:srgbClr val="6E62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развитие механизмов контроля и защита прав.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Georg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Гражданское общество и правовое государство</dc:title>
  <dc:subject>university_report</dc:subject>
  <dc:creator>StudyDeck AI</dc:creator>
  <cp:lastModifiedBy>StudyDeck AI</cp:lastModifiedBy>
  <cp:revision>1</cp:revision>
  <dcterms:created xsi:type="dcterms:W3CDTF">2026-07-04T08:30:34Z</dcterms:created>
  <dcterms:modified xsi:type="dcterms:W3CDTF">2026-07-04T08:30:34Z</dcterms:modified>
</cp:coreProperties>
</file>